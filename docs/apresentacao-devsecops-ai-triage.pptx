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xto e objetivo" id="{a3b44668-0d54-659b-5de6-56700853bdd5}">
          <p14:sldIdLst>
            <p14:sldId id="256"/>
            <p14:sldId id="257"/>
          </p14:sldIdLst>
        </p14:section>
        <p14:section name="Solução" id="{f6de4efd-d52d-5bf8-8054-6e7d500ddd17}">
          <p14:sldIdLst>
            <p14:sldId id="258"/>
            <p14:sldId id="259"/>
          </p14:sldIdLst>
        </p14:section>
        <p14:section name="Segurança verificada" id="{7e84d099-0f4e-ff25-dbf8-4fb89f77ce42}">
          <p14:sldIdLst>
            <p14:sldId id="260"/>
            <p14:sldId id="261"/>
            <p14:sldId id="262"/>
          </p14:sldIdLst>
        </p14:section>
        <p14:section name="Resultados e fontes" id="{a36f5d0a-6359-ce1a-8e34-7d1cbdf195ea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uma API de triagem de incidentes que usa IA, publicada em Docker, com pipeline DevSecOps de 8 estágios, documentação de conformidade, análise de vulnerabilidades com evidências reais e acervo de prompts versionado no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pilares da atividade: aplicação com IA implantada, controle com DevSecOps e conformidade com análise de vulnerabilidades, além do acervo de prompts no GitHub. A aplicação roda em Docker e não depende de uma cloud específica.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analista chama a API pelo proxy com TLS e autenticação. Dentro do container: valida a entrada, bloqueia prompt injection, redige dados pessoais, usa um prompt de sistema versionado no GitHub e valida a saída do modelo contra enums fechados. O modelo só sugere; nenhuma ação é executada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Estágios: 1 lint e testes (cobertura mínima 85%); 2 Gitleaks; 3 Bandit e CodeQL; 4 pip-audit; 5 Hadolint e Trivy config; 6 build, Trivy da imagem, SBOM com Syft e Cosign; 7 OWASP ZAP; 8 deploy com aprovação manual. Lint, testes, Bandit e pip-audit foram executados localmente; os demais rodam no GitHub Actions após o primeiro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achados vieram de pip-audit, Bandit e verificação manual do cabeçalho HTTP. Cada um tem evidência antes e depois em docs/evidencias. Gitleaks, CodeQL, Trivy, Syft, Cosign e ZAP estão configurados no pipeline, mas dependem do GitHub Actions; os resultados entram depois do primeiro push.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linha aponta para o arquivo ou estágio do pipeline que serve de evidência em docs/CONFORMIDADE.md. O modelo nunca executa ações sozinho, por isso a decisão é humana; os dados pessoais são redigidos antes de chegar ao provedor de LLM (princípio da necessidade da LGPD). É alinhamento, não certificação.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acervo cobre requisitos e ameaças, código e testes, pipeline e Docker, vulnerabilidades, conformidade e documentação. O prompt de sistema da aplicação é um arquivo do repositório carregado em tempo de execução; mudar o comportamento da IA exige Pull Request e passa pelo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Números medidos localmente em 26/10/2026: 22 testes, 86,7% de cobertura, pip-audit sem vulnerabilidades conhecidas após atualizar o Flask. O pipeline completo ainda precisa rodar no GitHub; dali saem os prints de Trivy, CodeQL e ZAP para o relatório.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Fontes usadas para o mapeamento de conformidade e para as ferramentas do pipeline. As imagens foram geradas por um script do próprio repositório.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2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_CLARO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DevSecOps AI Triage · Cloud e IA · FIAP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_ESCURO">
    <p:bg>
      <p:bgPr>
        <a:solidFill>
          <a:srgbClr val="1220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DevSecOps AI Triage · Cloud e IA · FIAP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ECHAMENTO">
    <p:bg>
      <p:bgPr>
        <a:solidFill>
          <a:srgbClr val="1B6E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4864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DevSecOps AI Triage · Cloud e IA · FIAP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owasp.org/Top10/" TargetMode="External"/><Relationship Id="rId2" Type="http://schemas.openxmlformats.org/officeDocument/2006/relationships/hyperlink" Target="https://genai.owasp.org/llm-top-10/" TargetMode="External"/><Relationship Id="rId3" Type="http://schemas.openxmlformats.org/officeDocument/2006/relationships/hyperlink" Target="https://csrc.nist.gov/projects/ssdf" TargetMode="External"/><Relationship Id="rId4" Type="http://schemas.openxmlformats.org/officeDocument/2006/relationships/hyperlink" Target="https://www.planalto.gov.br/ccivil_03/_ato2015-2018/2018/lei/l13709.htm" TargetMode="External"/><Relationship Id="rId5" Type="http://schemas.openxmlformats.org/officeDocument/2006/relationships/hyperlink" Target="https://trivy.dev/" TargetMode="External"/><Relationship Id="rId6" Type="http://schemas.openxmlformats.org/officeDocument/2006/relationships/hyperlink" Target="https://www.zaproxy.org/" TargetMode="External"/><Relationship Id="rId7" Type="http://schemas.openxmlformats.org/officeDocument/2006/relationships/hyperlink" Target="https://bandit.readthedocs.io/" TargetMode="External"/><Relationship Id="rId8" Type="http://schemas.openxmlformats.org/officeDocument/2006/relationships/hyperlink" Target="https://docs.github.com/actions" TargetMode="External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CLOUD E IA · DEVSECOPS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2"/>
                </a:solidFill>
              </a:rPr>
              <a:t>DevSecOps AI Triage</a:t>
            </a:r>
            <a:endParaRPr lang="en-US" sz="4800" dirty="0"/>
          </a:p>
        </p:txBody>
      </p:sp>
      <p:sp>
        <p:nvSpPr>
          <p:cNvPr id="4" name="Subtitulo"/>
          <p:cNvSpPr txBox="1"/>
          <p:nvPr/>
        </p:nvSpPr>
        <p:spPr>
          <a:xfrm>
            <a:off x="64008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Implantação de uma aplicação com Inteligência Artificial, controlada por pipeline DevSecOps, com conformidade e análise de vulnerabilidades.</a:t>
            </a:r>
            <a:endParaRPr lang="en-US" sz="2000" dirty="0"/>
          </a:p>
        </p:txBody>
      </p:sp>
      <p:sp>
        <p:nvSpPr>
          <p:cNvPr id="5" name="Autor"/>
          <p:cNvSpPr txBox="1"/>
          <p:nvPr/>
        </p:nvSpPr>
        <p:spPr>
          <a:xfrm>
            <a:off x="640080" y="3931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Victor Marcolongo Pereira · FIAP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Disciplina de Cloud e IA · Prof. Eduardo Popovici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IA acelera, o pipeline mantém o controle</a:t>
            </a:r>
            <a:endParaRPr lang="en-US" sz="3200" dirty="0"/>
          </a:p>
        </p:txBody>
      </p:sp>
      <p:sp>
        <p:nvSpPr>
          <p:cNvPr id="3" name="Card 01"/>
          <p:cNvSpPr/>
          <p:nvPr/>
        </p:nvSpPr>
        <p:spPr>
          <a:xfrm>
            <a:off x="54864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" name="Numero 01"/>
          <p:cNvSpPr txBox="1"/>
          <p:nvPr/>
        </p:nvSpPr>
        <p:spPr>
          <a:xfrm>
            <a:off x="77724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itulo 01"/>
          <p:cNvSpPr txBox="1"/>
          <p:nvPr/>
        </p:nvSpPr>
        <p:spPr>
          <a:xfrm>
            <a:off x="7772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Aplicação com IA</a:t>
            </a:r>
            <a:endParaRPr lang="en-US" sz="1800" dirty="0"/>
          </a:p>
        </p:txBody>
      </p:sp>
      <p:sp>
        <p:nvSpPr>
          <p:cNvPr id="6" name="Texto 01"/>
          <p:cNvSpPr txBox="1"/>
          <p:nvPr/>
        </p:nvSpPr>
        <p:spPr>
          <a:xfrm>
            <a:off x="777240" y="278892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API Flask que recebe um relato de incidente e sugere severidade, categoria e ações. A decisão final é humana.</a:t>
            </a:r>
            <a:endParaRPr lang="en-US" sz="1400" dirty="0"/>
          </a:p>
        </p:txBody>
      </p:sp>
      <p:sp>
        <p:nvSpPr>
          <p:cNvPr id="7" name="Card 02"/>
          <p:cNvSpPr/>
          <p:nvPr/>
        </p:nvSpPr>
        <p:spPr>
          <a:xfrm>
            <a:off x="329184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Numero 02"/>
          <p:cNvSpPr txBox="1"/>
          <p:nvPr/>
        </p:nvSpPr>
        <p:spPr>
          <a:xfrm>
            <a:off x="352044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itulo 02"/>
          <p:cNvSpPr txBox="1"/>
          <p:nvPr/>
        </p:nvSpPr>
        <p:spPr>
          <a:xfrm>
            <a:off x="35204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Controle DevSecOps</a:t>
            </a:r>
            <a:endParaRPr lang="en-US" sz="1800" dirty="0"/>
          </a:p>
        </p:txBody>
      </p:sp>
      <p:sp>
        <p:nvSpPr>
          <p:cNvPr id="10" name="Texto 02"/>
          <p:cNvSpPr txBox="1"/>
          <p:nvPr/>
        </p:nvSpPr>
        <p:spPr>
          <a:xfrm>
            <a:off x="3520440" y="278892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Pipeline no GitHub Actions com 8 estágios: testes, segredos, SAST, SCA, Docker, imagem, DAST e deploy.</a:t>
            </a:r>
            <a:endParaRPr lang="en-US" sz="1400" dirty="0"/>
          </a:p>
        </p:txBody>
      </p:sp>
      <p:sp>
        <p:nvSpPr>
          <p:cNvPr id="11" name="Card 03"/>
          <p:cNvSpPr/>
          <p:nvPr/>
        </p:nvSpPr>
        <p:spPr>
          <a:xfrm>
            <a:off x="6035040" y="1600200"/>
            <a:ext cx="2560320" cy="2834640"/>
          </a:xfrm>
          <a:prstGeom prst="roundRect">
            <a:avLst>
              <a:gd name="adj" fmla="val 2857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2" name="Numero 03"/>
          <p:cNvSpPr txBox="1"/>
          <p:nvPr/>
        </p:nvSpPr>
        <p:spPr>
          <a:xfrm>
            <a:off x="6263640" y="17830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itulo 03"/>
          <p:cNvSpPr txBox="1"/>
          <p:nvPr/>
        </p:nvSpPr>
        <p:spPr>
          <a:xfrm>
            <a:off x="6263640" y="23317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Conformidade</a:t>
            </a:r>
            <a:endParaRPr lang="en-US" sz="1800" dirty="0"/>
          </a:p>
        </p:txBody>
      </p:sp>
      <p:sp>
        <p:nvSpPr>
          <p:cNvPr id="14" name="Texto 03"/>
          <p:cNvSpPr txBox="1"/>
          <p:nvPr/>
        </p:nvSpPr>
        <p:spPr>
          <a:xfrm>
            <a:off x="6263640" y="2788920"/>
            <a:ext cx="2103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Mapeamento para OWASP, NIST SSDF, LGPD e ISO 27001, com acervo de prompts versionado no GitHub.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Arquitetura: um controle em cada fronteira</a:t>
            </a:r>
            <a:endParaRPr lang="en-US" sz="3200" dirty="0"/>
          </a:p>
        </p:txBody>
      </p:sp>
      <p:sp>
        <p:nvSpPr>
          <p:cNvPr id="3" name="Pontos"/>
          <p:cNvSpPr txBox="1"/>
          <p:nvPr/>
        </p:nvSpPr>
        <p:spPr>
          <a:xfrm>
            <a:off x="548640" y="1508760"/>
            <a:ext cx="31089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Entrada validada por tipo e tamanho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Prompt injection bloqueado antes do modelo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PII redigida antes de sair (LGPD)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Saída do modelo validada, nunca confiada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Container não-root, somente leitura</a:t>
            </a:r>
            <a:endParaRPr lang="en-US" sz="1600" dirty="0"/>
          </a:p>
        </p:txBody>
      </p:sp>
      <p:pic>
        <p:nvPicPr>
          <p:cNvPr id="4" name="Diagrama arquitetura" descr="Diagrama da arquitetura: cliente, proxy com TLS, container com cinco etapas de controle e provedor de LL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0" y="1508760"/>
            <a:ext cx="4754880" cy="2674620"/>
          </a:xfrm>
          <a:prstGeom prst="rect">
            <a:avLst/>
          </a:prstGeom>
        </p:spPr>
      </p:pic>
      <p:sp>
        <p:nvSpPr>
          <p:cNvPr id="5" name="Legenda"/>
          <p:cNvSpPr txBox="1"/>
          <p:nvPr/>
        </p:nvSpPr>
        <p:spPr>
          <a:xfrm>
            <a:off x="3840480" y="4279392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Imagem: docs/img/arquitetura.png (repositório)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Pipeline DevSecOps: cada estágio é um gate</a:t>
            </a:r>
            <a:endParaRPr lang="en-US" sz="3200" dirty="0"/>
          </a:p>
        </p:txBody>
      </p:sp>
      <p:pic>
        <p:nvPicPr>
          <p:cNvPr id="3" name="Diagrama pipeline" descr="Pipeline com oito estágios: lint e testes, segredos, SAST, SCA, Docker e IaC, imagem, DAST e deploy com aprovação manu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5120640" cy="2880360"/>
          </a:xfrm>
          <a:prstGeom prst="rect">
            <a:avLst/>
          </a:prstGeom>
        </p:spPr>
      </p:pic>
      <p:sp>
        <p:nvSpPr>
          <p:cNvPr id="4" name="Pontos"/>
          <p:cNvSpPr txBox="1"/>
          <p:nvPr/>
        </p:nvSpPr>
        <p:spPr>
          <a:xfrm>
            <a:off x="5943600" y="1508760"/>
            <a:ext cx="265176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Falha em qualquer estágio bloqueia o merge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 imagem só é publicada depois de todos os gates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Deploy exige aprovação manual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Dependabot e scan semanal pegam CVEs novas</a:t>
            </a:r>
            <a:endParaRPr lang="en-US" sz="1600" dirty="0"/>
          </a:p>
        </p:txBody>
      </p:sp>
      <p:sp>
        <p:nvSpPr>
          <p:cNvPr id="5" name="Legenda"/>
          <p:cNvSpPr txBox="1"/>
          <p:nvPr/>
        </p:nvSpPr>
        <p:spPr>
          <a:xfrm>
            <a:off x="548640" y="446227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Arquivo: .github/workflows/devsecops.yml · Imagem: docs/img/pipeline.png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Vulnerabilidades com evidência real</a:t>
            </a:r>
            <a:endParaRPr lang="en-US" sz="3200" dirty="0"/>
          </a:p>
        </p:txBody>
      </p:sp>
      <p:pic>
        <p:nvPicPr>
          <p:cNvPr id="3" name="Grafico antes e depois" descr="Gráfico de barras com achados antes e depois: pip-audit 1 para 0, Bandit 1 para 0, Ruff 4 para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114800" cy="2313432"/>
          </a:xfrm>
          <a:prstGeom prst="rect">
            <a:avLst/>
          </a:prstGeom>
        </p:spPr>
      </p:pic>
      <p:sp>
        <p:nvSpPr>
          <p:cNvPr id="4" name="Achado 1"/>
          <p:cNvSpPr/>
          <p:nvPr/>
        </p:nvSpPr>
        <p:spPr>
          <a:xfrm>
            <a:off x="4937760" y="1508760"/>
            <a:ext cx="3657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Achado 1 titulo"/>
          <p:cNvSpPr txBox="1"/>
          <p:nvPr/>
        </p:nvSpPr>
        <p:spPr>
          <a:xfrm>
            <a:off x="5074920" y="15819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Flask 3.1.2 → 3.1.3</a:t>
            </a:r>
            <a:endParaRPr lang="en-US" sz="1500" dirty="0"/>
          </a:p>
        </p:txBody>
      </p:sp>
      <p:sp>
        <p:nvSpPr>
          <p:cNvPr id="6" name="Achado 1 texto"/>
          <p:cNvSpPr txBox="1"/>
          <p:nvPr/>
        </p:nvSpPr>
        <p:spPr>
          <a:xfrm>
            <a:off x="5074920" y="1874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pip-audit: PYSEC-2026-2151. Corrigido.</a:t>
            </a:r>
            <a:endParaRPr lang="en-US" sz="1400" dirty="0"/>
          </a:p>
        </p:txBody>
      </p:sp>
      <p:sp>
        <p:nvSpPr>
          <p:cNvPr id="7" name="Achado 2"/>
          <p:cNvSpPr/>
          <p:nvPr/>
        </p:nvSpPr>
        <p:spPr>
          <a:xfrm>
            <a:off x="4937760" y="2377440"/>
            <a:ext cx="3657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Achado 2 titulo"/>
          <p:cNvSpPr txBox="1"/>
          <p:nvPr/>
        </p:nvSpPr>
        <p:spPr>
          <a:xfrm>
            <a:off x="5074920" y="24505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Bandit B310 (média)</a:t>
            </a:r>
            <a:endParaRPr lang="en-US" sz="1500" dirty="0"/>
          </a:p>
        </p:txBody>
      </p:sp>
      <p:sp>
        <p:nvSpPr>
          <p:cNvPr id="9" name="Achado 2 texto"/>
          <p:cNvSpPr txBox="1"/>
          <p:nvPr/>
        </p:nvSpPr>
        <p:spPr>
          <a:xfrm>
            <a:off x="5074920" y="2743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URL do LLM só aceita http e https. Mitigado.</a:t>
            </a:r>
            <a:endParaRPr lang="en-US" sz="1400" dirty="0"/>
          </a:p>
        </p:txBody>
      </p:sp>
      <p:sp>
        <p:nvSpPr>
          <p:cNvPr id="10" name="Achado 3"/>
          <p:cNvSpPr/>
          <p:nvPr/>
        </p:nvSpPr>
        <p:spPr>
          <a:xfrm>
            <a:off x="4937760" y="3246120"/>
            <a:ext cx="3657600" cy="749808"/>
          </a:xfrm>
          <a:prstGeom prst="roundRect">
            <a:avLst>
              <a:gd name="adj" fmla="val 9756"/>
            </a:avLst>
          </a:prstGeom>
          <a:solidFill>
            <a:schemeClr val="bg1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Achado 3 titulo"/>
          <p:cNvSpPr txBox="1"/>
          <p:nvPr/>
        </p:nvSpPr>
        <p:spPr>
          <a:xfrm>
            <a:off x="5074920" y="33192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Cabeçalho Server</a:t>
            </a:r>
            <a:endParaRPr lang="en-US" sz="1500" dirty="0"/>
          </a:p>
        </p:txBody>
      </p:sp>
      <p:sp>
        <p:nvSpPr>
          <p:cNvPr id="12" name="Achado 3 texto"/>
          <p:cNvSpPr txBox="1"/>
          <p:nvPr/>
        </p:nvSpPr>
        <p:spPr>
          <a:xfrm>
            <a:off x="507492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Gunicorn não revela mais a tecnologia.</a:t>
            </a:r>
            <a:endParaRPr lang="en-US" sz="1400" dirty="0"/>
          </a:p>
        </p:txBody>
      </p:sp>
      <p:sp>
        <p:nvSpPr>
          <p:cNvPr id="13" name="Nota"/>
          <p:cNvSpPr txBox="1"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Evidências em docs/evidencias/. Gitleaks, CodeQL, Trivy e ZAP rodam no GitHub Actions e ainda não foram executados localmente.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Conformidade em cinco referências</a:t>
            </a:r>
            <a:endParaRPr lang="en-US" sz="3200" dirty="0"/>
          </a:p>
        </p:txBody>
      </p:sp>
      <p:graphicFrame>
        <p:nvGraphicFramePr>
          <p:cNvPr id="7" name="Tabela conformidad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80467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669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Referência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Controle no projeto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OWASP Top 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Cabeçalhos de segurança, SCA, SBOM, SSRF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OWASP LLM Top 10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Anti prompt injection, saída validada, rate limit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NIST SSDF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Gates no pipeline, revisão, scan semanal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LGPD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Redação de PII, logs sem conteúdo, decisão humana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ISO 27001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A.8.8 vulnerabilidades, A.8.25 SDLC, A.8.28 código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D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Nota"/>
          <p:cNvSpPr txBox="1"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Alinhamento de projeto acadêmico, não certificação. Detalhes em docs/CONFORMIDADE.md.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Acervo de prompts versionado no GitHub</a:t>
            </a:r>
            <a:endParaRPr lang="en-US" sz="3200" dirty="0"/>
          </a:p>
        </p:txBody>
      </p:sp>
      <p:sp>
        <p:nvSpPr>
          <p:cNvPr id="3" name="Card arvore"/>
          <p:cNvSpPr/>
          <p:nvPr/>
        </p:nvSpPr>
        <p:spPr>
          <a:xfrm>
            <a:off x="548640" y="1463040"/>
            <a:ext cx="4206240" cy="3063240"/>
          </a:xfrm>
          <a:prstGeom prst="roundRect">
            <a:avLst>
              <a:gd name="adj" fmla="val 2388"/>
            </a:avLst>
          </a:prstGeom>
          <a:solidFill>
            <a:srgbClr val="1B3047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Arvore"/>
          <p:cNvSpPr txBox="1"/>
          <p:nvPr/>
        </p:nvSpPr>
        <p:spPr>
          <a:xfrm>
            <a:off x="731520" y="1572768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README.md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TEMPLATE.md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REGISTRO.md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 sdlc/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|-- 01-requisitos-e-ameacas.md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|-- 02-codigo-e-testes.md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|-- 03-pipeline-e-docker.md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|-- 04-vulnerabilidades.md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|-- 05-conformidade.md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  `-- 06-documentacao.md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`-- runtime/triage_system.md</a:t>
            </a:r>
            <a:endParaRPr lang="en-US" sz="1400" dirty="0"/>
          </a:p>
        </p:txBody>
      </p:sp>
      <p:sp>
        <p:nvSpPr>
          <p:cNvPr id="5" name="Regras"/>
          <p:cNvSpPr txBox="1"/>
          <p:nvPr/>
        </p:nvSpPr>
        <p:spPr>
          <a:xfrm>
            <a:off x="5029200" y="150876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Prompt é código: ID, versão e revisão em Pull Request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Sem segredos nem dados pessoais nos prompts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Saída da IA é rascunho e passa por revisão humana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O prompt de runtime é carregado pela aplicação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REGISTRO.md guarda o que foi aceito ou descartado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2"/>
                </a:solidFill>
              </a:rPr>
              <a:t>Resultados e próximos passos</a:t>
            </a:r>
            <a:endParaRPr lang="en-US" sz="3200" dirty="0"/>
          </a:p>
        </p:txBody>
      </p:sp>
      <p:sp>
        <p:nvSpPr>
          <p:cNvPr id="3" name="Stat 1"/>
          <p:cNvSpPr/>
          <p:nvPr/>
        </p:nvSpPr>
        <p:spPr>
          <a:xfrm>
            <a:off x="548640" y="1417320"/>
            <a:ext cx="182880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Stat 1 numero"/>
          <p:cNvSpPr txBox="1"/>
          <p:nvPr/>
        </p:nvSpPr>
        <p:spPr>
          <a:xfrm>
            <a:off x="68580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600" dirty="0"/>
          </a:p>
        </p:txBody>
      </p:sp>
      <p:sp>
        <p:nvSpPr>
          <p:cNvPr id="5" name="Stat 1 rotulo"/>
          <p:cNvSpPr txBox="1"/>
          <p:nvPr/>
        </p:nvSpPr>
        <p:spPr>
          <a:xfrm>
            <a:off x="68580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testes passando</a:t>
            </a:r>
            <a:endParaRPr lang="en-US" sz="1400" dirty="0"/>
          </a:p>
        </p:txBody>
      </p:sp>
      <p:sp>
        <p:nvSpPr>
          <p:cNvPr id="6" name="Stat 2"/>
          <p:cNvSpPr/>
          <p:nvPr/>
        </p:nvSpPr>
        <p:spPr>
          <a:xfrm>
            <a:off x="2560320" y="1417320"/>
            <a:ext cx="182880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7" name="Stat 2 numero"/>
          <p:cNvSpPr txBox="1"/>
          <p:nvPr/>
        </p:nvSpPr>
        <p:spPr>
          <a:xfrm>
            <a:off x="269748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86,7%</a:t>
            </a:r>
            <a:endParaRPr lang="en-US" sz="3600" dirty="0"/>
          </a:p>
        </p:txBody>
      </p:sp>
      <p:sp>
        <p:nvSpPr>
          <p:cNvPr id="8" name="Stat 2 rotulo"/>
          <p:cNvSpPr txBox="1"/>
          <p:nvPr/>
        </p:nvSpPr>
        <p:spPr>
          <a:xfrm>
            <a:off x="269748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de cobertura</a:t>
            </a:r>
            <a:endParaRPr lang="en-US" sz="1400" dirty="0"/>
          </a:p>
        </p:txBody>
      </p:sp>
      <p:sp>
        <p:nvSpPr>
          <p:cNvPr id="9" name="Stat 3"/>
          <p:cNvSpPr/>
          <p:nvPr/>
        </p:nvSpPr>
        <p:spPr>
          <a:xfrm>
            <a:off x="4572000" y="1417320"/>
            <a:ext cx="182880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Stat 3 numero"/>
          <p:cNvSpPr txBox="1"/>
          <p:nvPr/>
        </p:nvSpPr>
        <p:spPr>
          <a:xfrm>
            <a:off x="470916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1" name="Stat 3 rotulo"/>
          <p:cNvSpPr txBox="1"/>
          <p:nvPr/>
        </p:nvSpPr>
        <p:spPr>
          <a:xfrm>
            <a:off x="470916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vulnerabilidades nas dependências</a:t>
            </a:r>
            <a:endParaRPr lang="en-US" sz="1400" dirty="0"/>
          </a:p>
        </p:txBody>
      </p:sp>
      <p:sp>
        <p:nvSpPr>
          <p:cNvPr id="12" name="Stat 4"/>
          <p:cNvSpPr/>
          <p:nvPr/>
        </p:nvSpPr>
        <p:spPr>
          <a:xfrm>
            <a:off x="6583680" y="1417320"/>
            <a:ext cx="1828800" cy="1417320"/>
          </a:xfrm>
          <a:prstGeom prst="roundRect">
            <a:avLst>
              <a:gd name="adj" fmla="val 51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3" name="Stat 4 numero"/>
          <p:cNvSpPr txBox="1"/>
          <p:nvPr/>
        </p:nvSpPr>
        <p:spPr>
          <a:xfrm>
            <a:off x="6720840" y="15087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600" dirty="0"/>
          </a:p>
        </p:txBody>
      </p:sp>
      <p:sp>
        <p:nvSpPr>
          <p:cNvPr id="14" name="Stat 4 rotulo"/>
          <p:cNvSpPr txBox="1"/>
          <p:nvPr/>
        </p:nvSpPr>
        <p:spPr>
          <a:xfrm>
            <a:off x="672084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estágios no pipeline</a:t>
            </a:r>
            <a:endParaRPr lang="en-US" sz="1400" dirty="0"/>
          </a:p>
        </p:txBody>
      </p:sp>
      <p:sp>
        <p:nvSpPr>
          <p:cNvPr id="15" name="Proximos passos"/>
          <p:cNvSpPr txBox="1"/>
          <p:nvPr/>
        </p:nvSpPr>
        <p:spPr>
          <a:xfrm>
            <a:off x="548640" y="306324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chemeClr val="bg2"/>
                </a:solidFill>
              </a:rPr>
              <a:t>Próximos passos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Publicar no GitHub, rodar o pipeline completo e anexar os prints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Proteger a branch main e ativar secret scanning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2"/>
                </a:solidFill>
              </a:rPr>
              <a:t>Trocar o provedor mock por um LLM real via secrets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Referências e URLs</a:t>
            </a:r>
            <a:endParaRPr lang="en-US" sz="3200" dirty="0"/>
          </a:p>
        </p:txBody>
      </p:sp>
      <p:sp>
        <p:nvSpPr>
          <p:cNvPr id="3" name="Referencias 1"/>
          <p:cNvSpPr txBox="1"/>
          <p:nvPr/>
        </p:nvSpPr>
        <p:spPr>
          <a:xfrm>
            <a:off x="5486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OWASP Top 10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u="sng" dirty="0">
                <a:solidFill>
                  <a:schemeClr val="accent5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owasp.org/Top10/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OWASP Top 10 para LLMs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u="sng" dirty="0">
                <a:solidFill>
                  <a:schemeClr val="accent5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genai.owasp.org/llm-top-10/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NIST SSDF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u="sng" dirty="0">
                <a:solidFill>
                  <a:schemeClr val="accent5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csrc.nist.gov/projects/ssdf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LGPD (Lei 13.709/2018)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u="sng" dirty="0">
                <a:solidFill>
                  <a:schemeClr val="accent5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planalto.gov.br/.../l13709.htm</a:t>
            </a:r>
            <a:endParaRPr lang="en-US" sz="1400" dirty="0"/>
          </a:p>
        </p:txBody>
      </p:sp>
      <p:sp>
        <p:nvSpPr>
          <p:cNvPr id="4" name="Referencias 2"/>
          <p:cNvSpPr txBox="1"/>
          <p:nvPr/>
        </p:nvSpPr>
        <p:spPr>
          <a:xfrm>
            <a:off x="4663440" y="146304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Trivy (scan de imagem)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u="sng" dirty="0">
                <a:solidFill>
                  <a:schemeClr val="accent5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trivy.dev/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OWASP ZAP (DAST)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u="sng" dirty="0">
                <a:solidFill>
                  <a:schemeClr val="accent5"/>
                </a:solidFill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www.zaproxy.org/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Bandit (SAST Python)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u="sng" dirty="0">
                <a:solidFill>
                  <a:schemeClr val="accent5"/>
                </a:solidFill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bandit.readthedocs.io/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 Actions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u="sng" dirty="0">
                <a:solidFill>
                  <a:schemeClr val="accent5"/>
                </a:solidFill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docs.github.com/actions</a:t>
            </a:r>
            <a:endParaRPr lang="en-US" sz="1400" dirty="0"/>
          </a:p>
        </p:txBody>
      </p:sp>
      <p:sp>
        <p:nvSpPr>
          <p:cNvPr id="5" name="Nota imagens"/>
          <p:cNvSpPr txBox="1"/>
          <p:nvPr/>
        </p:nvSpPr>
        <p:spPr>
          <a:xfrm>
            <a:off x="54864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Imagens dos slides 3, 4 e 5: criação própria, em docs/img/ no repositório (scripts/gerar_diagramas.py). Confira cada link na fonte oficial antes de entregar.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vSecOps AI Triage">
  <a:themeElements>
    <a:clrScheme name="DevSecOps AI Triage">
      <a:dk1>
        <a:srgbClr val="12202F"/>
      </a:dk1>
      <a:lt1>
        <a:srgbClr val="FFFFFF"/>
      </a:lt1>
      <a:dk2>
        <a:srgbClr val="1B3047"/>
      </a:dk2>
      <a:lt2>
        <a:srgbClr val="F4F1EA"/>
      </a:lt2>
      <a:accent1>
        <a:srgbClr val="1B8F7A"/>
      </a:accent1>
      <a:accent2>
        <a:srgbClr val="E0912B"/>
      </a:accent2>
      <a:accent3>
        <a:srgbClr val="51606F"/>
      </a:accent3>
      <a:accent4>
        <a:srgbClr val="BFD8D5"/>
      </a:accent4>
      <a:accent5>
        <a:srgbClr val="1B6E5E"/>
      </a:accent5>
      <a:accent6>
        <a:srgbClr val="8A5A12"/>
      </a:accent6>
      <a:hlink>
        <a:srgbClr val="1B6E5E"/>
      </a:hlink>
      <a:folHlink>
        <a:srgbClr val="51606F"/>
      </a:folHlink>
    </a:clrScheme>
    <a:fontScheme name="DevSecOps AI Triag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DevSecOps AI Triage</dc:title>
  <dc:subject>PptxGenJS Presentation</dc:subject>
  <dc:creator>Victor Marcolongo Pereira</dc:creator>
  <cp:lastModifiedBy>Victor Marcolongo Pereira</cp:lastModifiedBy>
  <cp:revision>1</cp:revision>
  <dcterms:created xsi:type="dcterms:W3CDTF">2026-10-26T23:30:14Z</dcterms:created>
  <dcterms:modified xsi:type="dcterms:W3CDTF">2026-10-26T23:30:14Z</dcterms:modified>
</cp:coreProperties>
</file>